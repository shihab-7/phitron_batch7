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Marcellus"/>
      <p:regular r:id="rId12"/>
    </p:embeddedFon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font" Target="fonts/Marcellu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" name="Google Shape;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0"/>
          <p:cNvSpPr/>
          <p:nvPr/>
        </p:nvSpPr>
        <p:spPr>
          <a:xfrm>
            <a:off x="793790" y="2507337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Meet the Sigmoid Function</a:t>
            </a:r>
            <a:endParaRPr b="0" i="0" sz="5100" u="none" cap="none" strike="noStrike"/>
          </a:p>
        </p:txBody>
      </p:sp>
      <p:sp>
        <p:nvSpPr>
          <p:cNvPr id="39" name="Google Shape;39;p10"/>
          <p:cNvSpPr/>
          <p:nvPr/>
        </p:nvSpPr>
        <p:spPr>
          <a:xfrm>
            <a:off x="793790" y="4542949"/>
            <a:ext cx="7556421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sigmoid function is the mathematical heart of logistic regression. It elegantly transforms any real number into a probability between 0 and 1—making it perfect for classification tasks.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/>
          <p:nvPr/>
        </p:nvSpPr>
        <p:spPr>
          <a:xfrm>
            <a:off x="793790" y="2612350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Sigmoid Formula</a:t>
            </a:r>
            <a:endParaRPr b="0" i="0" sz="5100" u="none" cap="none" strike="noStrike"/>
          </a:p>
        </p:txBody>
      </p:sp>
      <p:sp>
        <p:nvSpPr>
          <p:cNvPr id="47" name="Google Shape;47;p11"/>
          <p:cNvSpPr/>
          <p:nvPr/>
        </p:nvSpPr>
        <p:spPr>
          <a:xfrm>
            <a:off x="793790" y="3800237"/>
            <a:ext cx="7556421" cy="645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/>
          </a:p>
        </p:txBody>
      </p:sp>
      <p:pic>
        <p:nvPicPr>
          <p:cNvPr descr="preencoded.png" id="48" name="Google Shape;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800237"/>
            <a:ext cx="7556421" cy="64555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/>
          <p:nvPr/>
        </p:nvSpPr>
        <p:spPr>
          <a:xfrm>
            <a:off x="793790" y="4732853"/>
            <a:ext cx="7556421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sigmoid formula transforms any input z into a smooth S-curve that transitions gracefully from 0 to 1, providing interpretable probabilities for any input value.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583049" y="458033"/>
            <a:ext cx="5575340" cy="622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750"/>
              <a:buFont typeface="Marcellus"/>
              <a:buNone/>
            </a:pPr>
            <a:r>
              <a:rPr b="0" i="0" lang="en-US" sz="37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the Sigmoid Behaves</a:t>
            </a:r>
            <a:endParaRPr b="0" i="0" sz="3750" u="none" cap="none" strike="noStrike"/>
          </a:p>
        </p:txBody>
      </p:sp>
      <p:sp>
        <p:nvSpPr>
          <p:cNvPr id="56" name="Google Shape;56;p12"/>
          <p:cNvSpPr/>
          <p:nvPr/>
        </p:nvSpPr>
        <p:spPr>
          <a:xfrm>
            <a:off x="583049" y="1413748"/>
            <a:ext cx="13464302" cy="216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how the sigmoid responds to different input values is key to grasping logistic regression. Watch how z transforms into probability:</a:t>
            </a:r>
            <a:endParaRPr b="0" i="0" sz="1300" u="none" cap="none" strike="noStrike"/>
          </a:p>
        </p:txBody>
      </p:sp>
      <p:pic>
        <p:nvPicPr>
          <p:cNvPr descr="preencoded.png" id="57" name="Google Shape;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49" y="2005013"/>
            <a:ext cx="832961" cy="124384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2"/>
          <p:cNvSpPr/>
          <p:nvPr/>
        </p:nvSpPr>
        <p:spPr>
          <a:xfrm>
            <a:off x="1582579" y="2171581"/>
            <a:ext cx="2394823" cy="31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4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850"/>
              <a:buFont typeface="Marcellus"/>
              <a:buNone/>
            </a:pPr>
            <a:r>
              <a:rPr b="0" i="0" lang="en-US" sz="1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Negative z values</a:t>
            </a:r>
            <a:endParaRPr b="0" i="0" sz="1850" u="none" cap="none" strike="noStrike"/>
          </a:p>
        </p:txBody>
      </p:sp>
      <p:sp>
        <p:nvSpPr>
          <p:cNvPr id="59" name="Google Shape;59;p12"/>
          <p:cNvSpPr/>
          <p:nvPr/>
        </p:nvSpPr>
        <p:spPr>
          <a:xfrm>
            <a:off x="1582579" y="2649379"/>
            <a:ext cx="5529382" cy="43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When z is large and negative (like -5), sigmoid outputs probabilities close to </a:t>
            </a:r>
            <a:r>
              <a:rPr b="1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0" i="0" sz="1300" u="none" cap="none" strike="noStrike"/>
          </a:p>
        </p:txBody>
      </p:sp>
      <p:pic>
        <p:nvPicPr>
          <p:cNvPr descr="preencoded.png" id="60" name="Google Shape;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049" y="3248858"/>
            <a:ext cx="832961" cy="124384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/>
          <p:nvPr/>
        </p:nvSpPr>
        <p:spPr>
          <a:xfrm>
            <a:off x="1582579" y="3415427"/>
            <a:ext cx="2394823" cy="31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4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850"/>
              <a:buFont typeface="Marcellus"/>
              <a:buNone/>
            </a:pPr>
            <a:r>
              <a:rPr b="0" i="0" lang="en-US" sz="1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z equals zero</a:t>
            </a:r>
            <a:endParaRPr b="0" i="0" sz="1850" u="none" cap="none" strike="noStrike"/>
          </a:p>
        </p:txBody>
      </p:sp>
      <p:sp>
        <p:nvSpPr>
          <p:cNvPr id="62" name="Google Shape;62;p12"/>
          <p:cNvSpPr/>
          <p:nvPr/>
        </p:nvSpPr>
        <p:spPr>
          <a:xfrm>
            <a:off x="1582579" y="3893225"/>
            <a:ext cx="5529382" cy="43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At the midpoint where z = 0, sigmoid returns exactly </a:t>
            </a:r>
            <a:r>
              <a:rPr b="1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0.5</a:t>
            </a: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—perfect balance</a:t>
            </a:r>
            <a:endParaRPr b="0" i="0" sz="1300" u="none" cap="none" strike="noStrike"/>
          </a:p>
        </p:txBody>
      </p:sp>
      <p:pic>
        <p:nvPicPr>
          <p:cNvPr descr="preencoded.png" id="63" name="Google Shape;6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049" y="4492704"/>
            <a:ext cx="832961" cy="124384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/>
          <p:nvPr/>
        </p:nvSpPr>
        <p:spPr>
          <a:xfrm>
            <a:off x="1582579" y="4659273"/>
            <a:ext cx="2394823" cy="31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4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850"/>
              <a:buFont typeface="Marcellus"/>
              <a:buNone/>
            </a:pPr>
            <a:r>
              <a:rPr b="0" i="0" lang="en-US" sz="18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Positive z values</a:t>
            </a:r>
            <a:endParaRPr b="0" i="0" sz="1850" u="none" cap="none" strike="noStrike"/>
          </a:p>
        </p:txBody>
      </p:sp>
      <p:sp>
        <p:nvSpPr>
          <p:cNvPr id="65" name="Google Shape;65;p12"/>
          <p:cNvSpPr/>
          <p:nvPr/>
        </p:nvSpPr>
        <p:spPr>
          <a:xfrm>
            <a:off x="1582579" y="5137071"/>
            <a:ext cx="5529382" cy="43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When z is large and positive (like +5), sigmoid outputs probabilities near </a:t>
            </a:r>
            <a:r>
              <a:rPr b="1" i="0" lang="en-US" sz="13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300" u="none" cap="none" strike="noStrike"/>
          </a:p>
        </p:txBody>
      </p:sp>
      <p:pic>
        <p:nvPicPr>
          <p:cNvPr descr="preencoded.png" id="66" name="Google Shape;6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6060" y="2005013"/>
            <a:ext cx="6528911" cy="652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793790" y="1272183"/>
            <a:ext cx="964287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From Probability to Classification</a:t>
            </a:r>
            <a:endParaRPr b="0" i="0" sz="5100" u="none" cap="none" strike="noStrike"/>
          </a:p>
        </p:txBody>
      </p:sp>
      <p:sp>
        <p:nvSpPr>
          <p:cNvPr id="73" name="Google Shape;73;p13"/>
          <p:cNvSpPr/>
          <p:nvPr/>
        </p:nvSpPr>
        <p:spPr>
          <a:xfrm>
            <a:off x="793790" y="246006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sigmoid doesn't make the final decision alone—it's part of a beautiful pipeline that converts raw scores into definitive class predictions.</a:t>
            </a:r>
            <a:endParaRPr b="0" i="0" sz="1750" u="none" cap="none" strike="noStrike"/>
          </a:p>
        </p:txBody>
      </p:sp>
      <p:sp>
        <p:nvSpPr>
          <p:cNvPr id="74" name="Google Shape;74;p13"/>
          <p:cNvSpPr/>
          <p:nvPr/>
        </p:nvSpPr>
        <p:spPr>
          <a:xfrm>
            <a:off x="793807" y="3304825"/>
            <a:ext cx="3885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75" name="Google Shape;75;p13"/>
          <p:cNvSpPr/>
          <p:nvPr/>
        </p:nvSpPr>
        <p:spPr>
          <a:xfrm>
            <a:off x="793790" y="3671173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793790" y="384548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Calculate Score (z)</a:t>
            </a:r>
            <a:endParaRPr b="0" i="0" sz="2550" u="none" cap="none" strike="noStrike"/>
          </a:p>
        </p:txBody>
      </p:sp>
      <p:sp>
        <p:nvSpPr>
          <p:cNvPr id="77" name="Google Shape;77;p13"/>
          <p:cNvSpPr/>
          <p:nvPr/>
        </p:nvSpPr>
        <p:spPr>
          <a:xfrm>
            <a:off x="793790" y="4405432"/>
            <a:ext cx="640794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Your model computes a raw score from input features</a:t>
            </a:r>
            <a:endParaRPr b="0" i="0" sz="1750" u="none" cap="none" strike="noStrike"/>
          </a:p>
        </p:txBody>
      </p:sp>
      <p:sp>
        <p:nvSpPr>
          <p:cNvPr id="78" name="Google Shape;78;p13"/>
          <p:cNvSpPr/>
          <p:nvPr/>
        </p:nvSpPr>
        <p:spPr>
          <a:xfrm>
            <a:off x="7428553" y="3304825"/>
            <a:ext cx="569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79" name="Google Shape;79;p13"/>
          <p:cNvSpPr/>
          <p:nvPr/>
        </p:nvSpPr>
        <p:spPr>
          <a:xfrm>
            <a:off x="7428548" y="3671173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7428548" y="384548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Apply Sigmoid</a:t>
            </a:r>
            <a:endParaRPr b="0" i="0" sz="2550" u="none" cap="none" strike="noStrike"/>
          </a:p>
        </p:txBody>
      </p:sp>
      <p:sp>
        <p:nvSpPr>
          <p:cNvPr id="81" name="Google Shape;81;p13"/>
          <p:cNvSpPr/>
          <p:nvPr/>
        </p:nvSpPr>
        <p:spPr>
          <a:xfrm>
            <a:off x="7428548" y="4405432"/>
            <a:ext cx="640806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Transform the score into a probability between 0 and 1</a:t>
            </a:r>
            <a:endParaRPr b="0" i="0" sz="1750" u="none" cap="none" strike="noStrike"/>
          </a:p>
        </p:txBody>
      </p:sp>
      <p:sp>
        <p:nvSpPr>
          <p:cNvPr id="82" name="Google Shape;82;p13"/>
          <p:cNvSpPr/>
          <p:nvPr/>
        </p:nvSpPr>
        <p:spPr>
          <a:xfrm>
            <a:off x="793812" y="5097075"/>
            <a:ext cx="569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793790" y="5463421"/>
            <a:ext cx="6407944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793790" y="5637728"/>
            <a:ext cx="334101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Compare to Threshold</a:t>
            </a:r>
            <a:endParaRPr b="0" i="0" sz="255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793790" y="6197679"/>
            <a:ext cx="640794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Check if probability exceeds your decision boundary (default: 0.5)</a:t>
            </a:r>
            <a:endParaRPr b="0" i="0" sz="175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7428552" y="5097075"/>
            <a:ext cx="3885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750" u="none" cap="none" strike="noStrike"/>
          </a:p>
        </p:txBody>
      </p:sp>
      <p:sp>
        <p:nvSpPr>
          <p:cNvPr id="87" name="Google Shape;87;p13"/>
          <p:cNvSpPr/>
          <p:nvPr/>
        </p:nvSpPr>
        <p:spPr>
          <a:xfrm>
            <a:off x="7428548" y="5463421"/>
            <a:ext cx="6408063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428548" y="563772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Assign Class</a:t>
            </a:r>
            <a:endParaRPr b="0" i="0" sz="2550" u="none" cap="none" strike="noStrike"/>
          </a:p>
        </p:txBody>
      </p:sp>
      <p:sp>
        <p:nvSpPr>
          <p:cNvPr id="89" name="Google Shape;89;p13"/>
          <p:cNvSpPr/>
          <p:nvPr/>
        </p:nvSpPr>
        <p:spPr>
          <a:xfrm>
            <a:off x="7428548" y="6197679"/>
            <a:ext cx="640806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Above threshold → Class 1, below threshold → Class 0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793790" y="1824157"/>
            <a:ext cx="730912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Threshold Effects Matter</a:t>
            </a:r>
            <a:endParaRPr b="0" i="0" sz="5100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793790" y="301204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Adjusting the classification threshold gives you control over your model's behavior. Different thresholds create different trade-offs between sensitivity and specificity.</a:t>
            </a:r>
            <a:endParaRPr b="0" i="0" sz="175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793790" y="3856792"/>
            <a:ext cx="4196358" cy="2548533"/>
          </a:xfrm>
          <a:prstGeom prst="roundRect">
            <a:avLst>
              <a:gd fmla="val 5741" name="adj"/>
            </a:avLst>
          </a:prstGeom>
          <a:solidFill>
            <a:srgbClr val="FFFFF4">
              <a:alpha val="94902"/>
            </a:srgbClr>
          </a:solidFill>
          <a:ln cap="flat" cmpd="sng" w="30475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3310" y="3856792"/>
            <a:ext cx="121920" cy="2548533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1142524" y="411408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Lower Threshold (0.3)</a:t>
            </a:r>
            <a:endParaRPr b="0" i="0" sz="2550" u="none" cap="none" strike="noStrike"/>
          </a:p>
        </p:txBody>
      </p:sp>
      <p:sp>
        <p:nvSpPr>
          <p:cNvPr id="100" name="Google Shape;100;p14"/>
          <p:cNvSpPr/>
          <p:nvPr/>
        </p:nvSpPr>
        <p:spPr>
          <a:xfrm>
            <a:off x="1142524" y="4674037"/>
            <a:ext cx="359033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More aggressive—predicts Class 1 more often. Useful when missing a positive case is costly (like disease detection).</a:t>
            </a:r>
            <a:endParaRPr b="0" i="0" sz="1750" u="none" cap="none" strike="noStrike"/>
          </a:p>
        </p:txBody>
      </p:sp>
      <p:sp>
        <p:nvSpPr>
          <p:cNvPr id="101" name="Google Shape;101;p14"/>
          <p:cNvSpPr/>
          <p:nvPr/>
        </p:nvSpPr>
        <p:spPr>
          <a:xfrm>
            <a:off x="5216962" y="3856792"/>
            <a:ext cx="4196358" cy="2548533"/>
          </a:xfrm>
          <a:prstGeom prst="roundRect">
            <a:avLst>
              <a:gd fmla="val 5741" name="adj"/>
            </a:avLst>
          </a:prstGeom>
          <a:solidFill>
            <a:srgbClr val="FFFFF4">
              <a:alpha val="94902"/>
            </a:srgbClr>
          </a:solidFill>
          <a:ln cap="flat" cmpd="sng" w="30475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186482" y="3856792"/>
            <a:ext cx="121920" cy="2548533"/>
          </a:xfrm>
          <a:prstGeom prst="roundRect">
            <a:avLst>
              <a:gd fmla="val 78139" name="adj"/>
            </a:avLst>
          </a:prstGeom>
          <a:solidFill>
            <a:srgbClr val="7D3E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565696" y="4114086"/>
            <a:ext cx="339732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Default Threshold (0.5)</a:t>
            </a:r>
            <a:endParaRPr b="0" i="0" sz="2550" u="none" cap="none" strike="noStrike"/>
          </a:p>
        </p:txBody>
      </p:sp>
      <p:sp>
        <p:nvSpPr>
          <p:cNvPr id="104" name="Google Shape;104;p14"/>
          <p:cNvSpPr/>
          <p:nvPr/>
        </p:nvSpPr>
        <p:spPr>
          <a:xfrm>
            <a:off x="5565696" y="4674037"/>
            <a:ext cx="359033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Balanced approach—treats both classes equally. The standard starting point for most classification problems.</a:t>
            </a:r>
            <a:endParaRPr b="0" i="0" sz="17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9640133" y="3856792"/>
            <a:ext cx="4196358" cy="2548533"/>
          </a:xfrm>
          <a:prstGeom prst="roundRect">
            <a:avLst>
              <a:gd fmla="val 5741" name="adj"/>
            </a:avLst>
          </a:prstGeom>
          <a:solidFill>
            <a:srgbClr val="FFFFF4">
              <a:alpha val="94902"/>
            </a:srgbClr>
          </a:solidFill>
          <a:ln cap="flat" cmpd="sng" w="30475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9609653" y="3856792"/>
            <a:ext cx="121920" cy="2548533"/>
          </a:xfrm>
          <a:prstGeom prst="roundRect">
            <a:avLst>
              <a:gd fmla="val 78139" name="adj"/>
            </a:avLst>
          </a:prstGeom>
          <a:solidFill>
            <a:srgbClr val="532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9988868" y="4114086"/>
            <a:ext cx="333255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Higher Threshold (0.7)</a:t>
            </a:r>
            <a:endParaRPr b="0" i="0" sz="255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9988868" y="4674037"/>
            <a:ext cx="359033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More conservative—predicts Class 1 only when very confident. Reduces false positives at the cost of missing some true positives.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793790" y="823198"/>
            <a:ext cx="827972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the Sigmoid Is Essential</a:t>
            </a:r>
            <a:endParaRPr b="0" i="0" sz="5100" u="none" cap="none" strike="noStrike"/>
          </a:p>
        </p:txBody>
      </p:sp>
      <p:pic>
        <p:nvPicPr>
          <p:cNvPr descr="preencoded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66236"/>
            <a:ext cx="4885015" cy="488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6239828" y="226623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976943" y="2337078"/>
            <a:ext cx="292322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Meaningful Probabilities</a:t>
            </a:r>
            <a:endParaRPr b="0" i="0" sz="255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6976943" y="3411617"/>
            <a:ext cx="2923223" cy="1768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Converts raw, unbounded scores into interpretable probabilities that humans understand and trust</a:t>
            </a:r>
            <a:endParaRPr b="0" i="0" sz="175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10183654" y="226623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10920770" y="2337078"/>
            <a:ext cx="292334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Smooth Classification</a:t>
            </a:r>
            <a:endParaRPr b="0" i="0" sz="255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10920770" y="3411617"/>
            <a:ext cx="2923342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Creates gentle transitions instead of abrupt jumps, making the model's decisions more nuanced and reliable</a:t>
            </a:r>
            <a:endParaRPr b="0" i="0" sz="175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6239828" y="563403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6976943" y="570488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Optimization Friendly</a:t>
            </a:r>
            <a:endParaRPr b="0" i="0" sz="255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6976943" y="6355556"/>
            <a:ext cx="686716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Its smooth, differentiable curve allows gradient descent to efficiently find the best model parameters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351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6219111" y="575786"/>
            <a:ext cx="6185297" cy="782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85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700"/>
              <a:buFont typeface="Marcellus"/>
              <a:buNone/>
            </a:pPr>
            <a:r>
              <a:rPr b="0" i="0" lang="en-US" sz="47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Try It Yourself in Colab</a:t>
            </a:r>
            <a:endParaRPr b="0" i="0" sz="4700" u="none" cap="none" strike="noStrike"/>
          </a:p>
        </p:txBody>
      </p:sp>
      <p:sp>
        <p:nvSpPr>
          <p:cNvPr id="132" name="Google Shape;132;p16"/>
          <p:cNvSpPr/>
          <p:nvPr/>
        </p:nvSpPr>
        <p:spPr>
          <a:xfrm>
            <a:off x="6219111" y="1672233"/>
            <a:ext cx="7678579" cy="54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Theory meets practice! Let's bring the sigmoid to life with hands-on experiments.</a:t>
            </a:r>
            <a:endParaRPr b="0" i="0" sz="160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6219111" y="2452092"/>
            <a:ext cx="3734633" cy="2635091"/>
          </a:xfrm>
          <a:prstGeom prst="roundRect">
            <a:avLst>
              <a:gd fmla="val 333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451283" y="2684264"/>
            <a:ext cx="628055" cy="628055"/>
          </a:xfrm>
          <a:prstGeom prst="roundRect">
            <a:avLst>
              <a:gd fmla="val 1455777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3923" y="2856905"/>
            <a:ext cx="282654" cy="28265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6451283" y="3521631"/>
            <a:ext cx="3009781" cy="39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787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50"/>
              <a:buFont typeface="Marcellus"/>
              <a:buNone/>
            </a:pPr>
            <a:r>
              <a:rPr b="0" i="0" lang="en-US" sz="23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 Sigmoid</a:t>
            </a:r>
            <a:endParaRPr b="0" i="0" sz="235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6451283" y="4038481"/>
            <a:ext cx="3270290" cy="816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Write the function from scratch and see the math in action</a:t>
            </a:r>
            <a:endParaRPr b="0" i="0" sz="160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10163056" y="2452092"/>
            <a:ext cx="3734633" cy="2635091"/>
          </a:xfrm>
          <a:prstGeom prst="roundRect">
            <a:avLst>
              <a:gd fmla="val 333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10395228" y="2684264"/>
            <a:ext cx="628055" cy="628055"/>
          </a:xfrm>
          <a:prstGeom prst="roundRect">
            <a:avLst>
              <a:gd fmla="val 1455777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7868" y="2856905"/>
            <a:ext cx="282654" cy="28265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10395228" y="3521631"/>
            <a:ext cx="3009781" cy="39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787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50"/>
              <a:buFont typeface="Marcellus"/>
              <a:buNone/>
            </a:pPr>
            <a:r>
              <a:rPr b="0" i="0" lang="en-US" sz="23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Visualize the Curve</a:t>
            </a:r>
            <a:endParaRPr b="0" i="0" sz="2350" u="none" cap="none" strike="noStrike"/>
          </a:p>
        </p:txBody>
      </p:sp>
      <p:sp>
        <p:nvSpPr>
          <p:cNvPr id="142" name="Google Shape;142;p16"/>
          <p:cNvSpPr/>
          <p:nvPr/>
        </p:nvSpPr>
        <p:spPr>
          <a:xfrm>
            <a:off x="10395228" y="4038481"/>
            <a:ext cx="3270290" cy="816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Plot the S-shape and explore how it responds to different inputs</a:t>
            </a:r>
            <a:endParaRPr b="0" i="0" sz="160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6219111" y="5296495"/>
            <a:ext cx="7678579" cy="2362914"/>
          </a:xfrm>
          <a:prstGeom prst="roundRect">
            <a:avLst>
              <a:gd fmla="val 372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451283" y="5528667"/>
            <a:ext cx="628055" cy="628055"/>
          </a:xfrm>
          <a:prstGeom prst="roundRect">
            <a:avLst>
              <a:gd fmla="val 1455777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3923" y="5701308"/>
            <a:ext cx="282654" cy="28265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6451283" y="6366034"/>
            <a:ext cx="3765352" cy="391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787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50"/>
              <a:buFont typeface="Marcellus"/>
              <a:buNone/>
            </a:pPr>
            <a:r>
              <a:rPr b="0" i="0" lang="en-US" sz="23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Experiment with Thresholds</a:t>
            </a:r>
            <a:endParaRPr b="0" i="0" sz="2350" u="none" cap="none" strike="noStrike"/>
          </a:p>
        </p:txBody>
      </p:sp>
      <p:sp>
        <p:nvSpPr>
          <p:cNvPr id="147" name="Google Shape;147;p16"/>
          <p:cNvSpPr/>
          <p:nvPr/>
        </p:nvSpPr>
        <p:spPr>
          <a:xfrm>
            <a:off x="6451283" y="6882884"/>
            <a:ext cx="7214235" cy="544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Adjust decision boundaries and observe the impact on classifications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