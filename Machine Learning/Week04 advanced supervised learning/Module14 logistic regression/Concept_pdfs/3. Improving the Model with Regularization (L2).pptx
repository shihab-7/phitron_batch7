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4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</p:sldIdLst>
  <p:sldSz cy="8229600" cx="14630400"/>
  <p:notesSz cx="8229600" cy="14630400"/>
  <p:embeddedFontLst>
    <p:embeddedFont>
      <p:font typeface="Marcellus"/>
      <p:regular r:id="rId10"/>
    </p:embeddedFont>
    <p:embeddedFont>
      <p:font typeface="Montserrat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Montserrat-regular.fntdata"/><Relationship Id="rId10" Type="http://schemas.openxmlformats.org/officeDocument/2006/relationships/font" Target="fonts/Marcellus-regular.fntdata"/><Relationship Id="rId13" Type="http://schemas.openxmlformats.org/officeDocument/2006/relationships/font" Target="fonts/Montserrat-italic.fntdata"/><Relationship Id="rId12" Type="http://schemas.openxmlformats.org/officeDocument/2006/relationships/font" Target="fonts/Montserrat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schemas.openxmlformats.org/officeDocument/2006/relationships/font" Target="fonts/Montserrat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" name="Google Shape;3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" name="Google Shape;4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1" name="Google Shape;3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76072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8"/>
          <p:cNvSpPr/>
          <p:nvPr/>
        </p:nvSpPr>
        <p:spPr>
          <a:xfrm>
            <a:off x="6280190" y="2802136"/>
            <a:ext cx="7556421" cy="1695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392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5100"/>
              <a:buFont typeface="Marcellus"/>
              <a:buNone/>
            </a:pPr>
            <a:r>
              <a:rPr b="0" i="0" lang="en-US" sz="510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Improving the Model with Regularization (L2)</a:t>
            </a:r>
            <a:endParaRPr b="0" i="0" sz="5100" u="none" cap="none" strike="noStrike"/>
          </a:p>
        </p:txBody>
      </p:sp>
      <p:sp>
        <p:nvSpPr>
          <p:cNvPr id="33" name="Google Shape;33;p8"/>
          <p:cNvSpPr/>
          <p:nvPr/>
        </p:nvSpPr>
        <p:spPr>
          <a:xfrm>
            <a:off x="6280190" y="4837748"/>
            <a:ext cx="7556421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A practical guide to strengthening your logistic regression models through regularization techniques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793790" y="2471976"/>
            <a:ext cx="6866573" cy="847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392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5100"/>
              <a:buFont typeface="Marcellus"/>
              <a:buNone/>
            </a:pPr>
            <a:r>
              <a:rPr b="0" i="0" lang="en-US" sz="510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What is Regularization?</a:t>
            </a:r>
            <a:endParaRPr b="0" i="0" sz="5100" u="none" cap="none" strike="noStrike"/>
          </a:p>
        </p:txBody>
      </p:sp>
      <p:sp>
        <p:nvSpPr>
          <p:cNvPr id="40" name="Google Shape;40;p9"/>
          <p:cNvSpPr/>
          <p:nvPr/>
        </p:nvSpPr>
        <p:spPr>
          <a:xfrm>
            <a:off x="793790" y="3773329"/>
            <a:ext cx="13042821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Regularization is a technique that prevents overfitting by discouraging large weights in your model. Think of it as a guardrail that keeps your model from becoming too complex and unstable.</a:t>
            </a:r>
            <a:endParaRPr b="0" i="0" sz="1750" u="none" cap="none" strike="noStrike"/>
          </a:p>
        </p:txBody>
      </p:sp>
      <p:sp>
        <p:nvSpPr>
          <p:cNvPr id="41" name="Google Shape;41;p9"/>
          <p:cNvSpPr/>
          <p:nvPr/>
        </p:nvSpPr>
        <p:spPr>
          <a:xfrm>
            <a:off x="793790" y="4618077"/>
            <a:ext cx="13042821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By adding constraints during training, regularization makes models simpler, more stable, and better at generalizing to new data.</a:t>
            </a:r>
            <a:endParaRPr b="0" i="0" sz="1750" u="none" cap="none" strike="noStrike"/>
          </a:p>
        </p:txBody>
      </p:sp>
      <p:sp>
        <p:nvSpPr>
          <p:cNvPr id="42" name="Google Shape;42;p9"/>
          <p:cNvSpPr/>
          <p:nvPr/>
        </p:nvSpPr>
        <p:spPr>
          <a:xfrm>
            <a:off x="793790" y="5462826"/>
            <a:ext cx="13042821" cy="294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1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L2 regularization</a:t>
            </a: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 is the most common choice for logistic regression and the default in most implementations.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0"/>
          <p:cNvSpPr/>
          <p:nvPr/>
        </p:nvSpPr>
        <p:spPr>
          <a:xfrm>
            <a:off x="793790" y="2443282"/>
            <a:ext cx="8627983" cy="847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392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5100"/>
              <a:buFont typeface="Marcellus"/>
              <a:buNone/>
            </a:pPr>
            <a:r>
              <a:rPr b="0" i="0" lang="en-US" sz="510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How L2 Regularization Works</a:t>
            </a:r>
            <a:endParaRPr b="0" i="0" sz="5100" u="none" cap="none" strike="noStrike"/>
          </a:p>
        </p:txBody>
      </p:sp>
      <p:sp>
        <p:nvSpPr>
          <p:cNvPr id="49" name="Google Shape;49;p10"/>
          <p:cNvSpPr/>
          <p:nvPr/>
        </p:nvSpPr>
        <p:spPr>
          <a:xfrm>
            <a:off x="793810" y="3631175"/>
            <a:ext cx="4476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arcellus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01</a:t>
            </a:r>
            <a:endParaRPr b="0" i="0" sz="1750" u="none" cap="none" strike="noStrike"/>
          </a:p>
        </p:txBody>
      </p:sp>
      <p:sp>
        <p:nvSpPr>
          <p:cNvPr id="50" name="Google Shape;50;p10"/>
          <p:cNvSpPr/>
          <p:nvPr/>
        </p:nvSpPr>
        <p:spPr>
          <a:xfrm>
            <a:off x="793790" y="3997523"/>
            <a:ext cx="4196358" cy="30480"/>
          </a:xfrm>
          <a:prstGeom prst="rect">
            <a:avLst/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10"/>
          <p:cNvSpPr/>
          <p:nvPr/>
        </p:nvSpPr>
        <p:spPr>
          <a:xfrm>
            <a:off x="793790" y="4171831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Adds a Penalty Term</a:t>
            </a:r>
            <a:endParaRPr b="0" i="0" sz="2550" u="none" cap="none" strike="noStrike"/>
          </a:p>
        </p:txBody>
      </p:sp>
      <p:sp>
        <p:nvSpPr>
          <p:cNvPr id="52" name="Google Shape;52;p10"/>
          <p:cNvSpPr/>
          <p:nvPr/>
        </p:nvSpPr>
        <p:spPr>
          <a:xfrm>
            <a:off x="793790" y="4731782"/>
            <a:ext cx="4196358" cy="8843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L2 adds a penalty based on the squared magnitude of coefficients to the loss function</a:t>
            </a:r>
            <a:endParaRPr b="0" i="0" sz="1750" u="none" cap="none" strike="noStrike"/>
          </a:p>
        </p:txBody>
      </p:sp>
      <p:sp>
        <p:nvSpPr>
          <p:cNvPr id="53" name="Google Shape;53;p10"/>
          <p:cNvSpPr/>
          <p:nvPr/>
        </p:nvSpPr>
        <p:spPr>
          <a:xfrm>
            <a:off x="5216943" y="3631175"/>
            <a:ext cx="4062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arcellus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02</a:t>
            </a:r>
            <a:endParaRPr b="0" i="0" sz="1750" u="none" cap="none" strike="noStrike"/>
          </a:p>
        </p:txBody>
      </p:sp>
      <p:sp>
        <p:nvSpPr>
          <p:cNvPr id="54" name="Google Shape;54;p10"/>
          <p:cNvSpPr/>
          <p:nvPr/>
        </p:nvSpPr>
        <p:spPr>
          <a:xfrm>
            <a:off x="5216962" y="3997523"/>
            <a:ext cx="4196358" cy="30480"/>
          </a:xfrm>
          <a:prstGeom prst="rect">
            <a:avLst/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/>
          <p:nvPr/>
        </p:nvSpPr>
        <p:spPr>
          <a:xfrm>
            <a:off x="5216962" y="4171831"/>
            <a:ext cx="3763804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Shrinks Weights Smoothly</a:t>
            </a:r>
            <a:endParaRPr b="0" i="0" sz="2550" u="none" cap="none" strike="noStrike"/>
          </a:p>
        </p:txBody>
      </p:sp>
      <p:sp>
        <p:nvSpPr>
          <p:cNvPr id="56" name="Google Shape;56;p10"/>
          <p:cNvSpPr/>
          <p:nvPr/>
        </p:nvSpPr>
        <p:spPr>
          <a:xfrm>
            <a:off x="5216962" y="4731782"/>
            <a:ext cx="4196358" cy="8843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Instead of eliminating features, L2 reduces all weights proportionally toward zero</a:t>
            </a:r>
            <a:endParaRPr b="0" i="0" sz="1750" u="none" cap="none" strike="noStrike"/>
          </a:p>
        </p:txBody>
      </p:sp>
      <p:sp>
        <p:nvSpPr>
          <p:cNvPr id="57" name="Google Shape;57;p10"/>
          <p:cNvSpPr/>
          <p:nvPr/>
        </p:nvSpPr>
        <p:spPr>
          <a:xfrm>
            <a:off x="9640118" y="3631175"/>
            <a:ext cx="4062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arcellus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03</a:t>
            </a:r>
            <a:endParaRPr b="0" i="0" sz="1750" u="none" cap="none" strike="noStrike"/>
          </a:p>
        </p:txBody>
      </p:sp>
      <p:sp>
        <p:nvSpPr>
          <p:cNvPr id="58" name="Google Shape;58;p10"/>
          <p:cNvSpPr/>
          <p:nvPr/>
        </p:nvSpPr>
        <p:spPr>
          <a:xfrm>
            <a:off x="9640133" y="3997523"/>
            <a:ext cx="4196358" cy="30480"/>
          </a:xfrm>
          <a:prstGeom prst="rect">
            <a:avLst/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0"/>
          <p:cNvSpPr/>
          <p:nvPr/>
        </p:nvSpPr>
        <p:spPr>
          <a:xfrm>
            <a:off x="9640133" y="4171831"/>
            <a:ext cx="3566517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Improves Generalization</a:t>
            </a:r>
            <a:endParaRPr b="0" i="0" sz="2550" u="none" cap="none" strike="noStrike"/>
          </a:p>
        </p:txBody>
      </p:sp>
      <p:sp>
        <p:nvSpPr>
          <p:cNvPr id="60" name="Google Shape;60;p10"/>
          <p:cNvSpPr/>
          <p:nvPr/>
        </p:nvSpPr>
        <p:spPr>
          <a:xfrm>
            <a:off x="9640133" y="4731782"/>
            <a:ext cx="4196358" cy="8843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Smaller, balanced weights help the model perform better on unseen data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/>
          <p:nvPr/>
        </p:nvSpPr>
        <p:spPr>
          <a:xfrm>
            <a:off x="793790" y="1272778"/>
            <a:ext cx="13042821" cy="1695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5100"/>
              <a:buFont typeface="Marcellus"/>
              <a:buNone/>
            </a:pPr>
            <a:r>
              <a:rPr b="0" i="0" lang="en-US" sz="510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The C Parameter: Your Regularization Volume Knob</a:t>
            </a:r>
            <a:endParaRPr b="0" i="0" sz="5100" u="none" cap="none" strike="noStrike"/>
          </a:p>
        </p:txBody>
      </p:sp>
      <p:sp>
        <p:nvSpPr>
          <p:cNvPr id="67" name="Google Shape;67;p11"/>
          <p:cNvSpPr/>
          <p:nvPr/>
        </p:nvSpPr>
        <p:spPr>
          <a:xfrm>
            <a:off x="793790" y="3308390"/>
            <a:ext cx="13042821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In scikit-learn's LogisticRegression, the </a:t>
            </a:r>
            <a:r>
              <a:rPr b="0" i="0" lang="en-US" sz="1750" u="none" cap="none" strike="noStrike">
                <a:solidFill>
                  <a:srgbClr val="67534F"/>
                </a:solidFill>
                <a:highlight>
                  <a:srgbClr val="F2F2E7"/>
                </a:highlight>
                <a:latin typeface="Consolas"/>
                <a:ea typeface="Consolas"/>
                <a:cs typeface="Consolas"/>
                <a:sym typeface="Consolas"/>
              </a:rPr>
              <a:t>C</a:t>
            </a: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 parameter controls regularization strength. Think of it as a volume knob that adjusts how much penalty is applied.</a:t>
            </a:r>
            <a:endParaRPr b="0" i="0" sz="1750" u="none" cap="none" strike="noStrike"/>
          </a:p>
        </p:txBody>
      </p:sp>
      <p:sp>
        <p:nvSpPr>
          <p:cNvPr id="68" name="Google Shape;68;p11"/>
          <p:cNvSpPr/>
          <p:nvPr/>
        </p:nvSpPr>
        <p:spPr>
          <a:xfrm>
            <a:off x="793790" y="4153138"/>
            <a:ext cx="6407944" cy="1958935"/>
          </a:xfrm>
          <a:prstGeom prst="roundRect">
            <a:avLst>
              <a:gd fmla="val 7469" name="adj"/>
            </a:avLst>
          </a:prstGeom>
          <a:solidFill>
            <a:srgbClr val="FFFFF4">
              <a:alpha val="94902"/>
            </a:srgbClr>
          </a:solidFill>
          <a:ln cap="flat" cmpd="sng" w="30475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1"/>
          <p:cNvSpPr/>
          <p:nvPr/>
        </p:nvSpPr>
        <p:spPr>
          <a:xfrm>
            <a:off x="763310" y="4153138"/>
            <a:ext cx="121920" cy="1958935"/>
          </a:xfrm>
          <a:prstGeom prst="roundRect">
            <a:avLst>
              <a:gd fmla="val 78139" name="adj"/>
            </a:avLst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1"/>
          <p:cNvSpPr/>
          <p:nvPr/>
        </p:nvSpPr>
        <p:spPr>
          <a:xfrm>
            <a:off x="1142524" y="4410432"/>
            <a:ext cx="5271135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Smaller C = Stronger Regularization</a:t>
            </a:r>
            <a:endParaRPr b="0" i="0" sz="2550" u="none" cap="none" strike="noStrike"/>
          </a:p>
        </p:txBody>
      </p:sp>
      <p:sp>
        <p:nvSpPr>
          <p:cNvPr id="71" name="Google Shape;71;p11"/>
          <p:cNvSpPr/>
          <p:nvPr/>
        </p:nvSpPr>
        <p:spPr>
          <a:xfrm>
            <a:off x="1142524" y="4970383"/>
            <a:ext cx="5801916" cy="8843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Lower values (e.g., C=0.01) apply </a:t>
            </a:r>
            <a:r>
              <a:rPr b="1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more penalty</a:t>
            </a: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, shrinking weights aggressively and creating simpler models</a:t>
            </a:r>
            <a:endParaRPr b="0" i="0" sz="1750" u="none" cap="none" strike="noStrike"/>
          </a:p>
        </p:txBody>
      </p:sp>
      <p:sp>
        <p:nvSpPr>
          <p:cNvPr id="72" name="Google Shape;72;p11"/>
          <p:cNvSpPr/>
          <p:nvPr/>
        </p:nvSpPr>
        <p:spPr>
          <a:xfrm>
            <a:off x="7428548" y="4153138"/>
            <a:ext cx="6408063" cy="1958935"/>
          </a:xfrm>
          <a:prstGeom prst="roundRect">
            <a:avLst>
              <a:gd fmla="val 7469" name="adj"/>
            </a:avLst>
          </a:prstGeom>
          <a:solidFill>
            <a:srgbClr val="FFFFF4">
              <a:alpha val="94902"/>
            </a:srgbClr>
          </a:solidFill>
          <a:ln cap="flat" cmpd="sng" w="30475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1"/>
          <p:cNvSpPr/>
          <p:nvPr/>
        </p:nvSpPr>
        <p:spPr>
          <a:xfrm>
            <a:off x="7398067" y="4153138"/>
            <a:ext cx="121920" cy="1958935"/>
          </a:xfrm>
          <a:prstGeom prst="roundRect">
            <a:avLst>
              <a:gd fmla="val 78139" name="adj"/>
            </a:avLst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1"/>
          <p:cNvSpPr/>
          <p:nvPr/>
        </p:nvSpPr>
        <p:spPr>
          <a:xfrm>
            <a:off x="7777282" y="4410432"/>
            <a:ext cx="4990862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Larger C = Weaker Regularization</a:t>
            </a:r>
            <a:endParaRPr b="0" i="0" sz="2550" u="none" cap="none" strike="noStrike"/>
          </a:p>
        </p:txBody>
      </p:sp>
      <p:sp>
        <p:nvSpPr>
          <p:cNvPr id="75" name="Google Shape;75;p11"/>
          <p:cNvSpPr/>
          <p:nvPr/>
        </p:nvSpPr>
        <p:spPr>
          <a:xfrm>
            <a:off x="7777282" y="4970383"/>
            <a:ext cx="5802035" cy="8843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Higher values (e.g., C=100) apply </a:t>
            </a:r>
            <a:r>
              <a:rPr b="1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less penalty</a:t>
            </a: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, allowing larger weights and more complex decision boundaries</a:t>
            </a:r>
            <a:endParaRPr b="0" i="0" sz="1750" u="none" cap="none" strike="noStrike"/>
          </a:p>
        </p:txBody>
      </p:sp>
      <p:sp>
        <p:nvSpPr>
          <p:cNvPr id="76" name="Google Shape;76;p11"/>
          <p:cNvSpPr/>
          <p:nvPr/>
        </p:nvSpPr>
        <p:spPr>
          <a:xfrm>
            <a:off x="793790" y="6367224"/>
            <a:ext cx="13042821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Finding the right C value requires experimentation—typically through cross-validation to balance simplicity and performance.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2"/>
          <p:cNvSpPr/>
          <p:nvPr/>
        </p:nvSpPr>
        <p:spPr>
          <a:xfrm>
            <a:off x="726281" y="636508"/>
            <a:ext cx="6956227" cy="7755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182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4650"/>
              <a:buFont typeface="Marcellus"/>
              <a:buNone/>
            </a:pPr>
            <a:r>
              <a:rPr b="0" i="0" lang="en-US" sz="465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What Regularization Fixes</a:t>
            </a:r>
            <a:endParaRPr b="0" i="0" sz="4650" u="none" cap="none" strike="noStrike"/>
          </a:p>
        </p:txBody>
      </p:sp>
      <p:sp>
        <p:nvSpPr>
          <p:cNvPr id="83" name="Google Shape;83;p12"/>
          <p:cNvSpPr/>
          <p:nvPr/>
        </p:nvSpPr>
        <p:spPr>
          <a:xfrm>
            <a:off x="726281" y="1827133"/>
            <a:ext cx="6485096" cy="2342436"/>
          </a:xfrm>
          <a:prstGeom prst="roundRect">
            <a:avLst>
              <a:gd fmla="val 3721" name="adj"/>
            </a:avLst>
          </a:prstGeom>
          <a:solidFill>
            <a:srgbClr val="FFFFF4"/>
          </a:solidFill>
          <a:ln cap="flat" cmpd="sng" w="22850">
            <a:solidFill>
              <a:srgbClr val="FF95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2"/>
          <p:cNvSpPr/>
          <p:nvPr/>
        </p:nvSpPr>
        <p:spPr>
          <a:xfrm>
            <a:off x="956667" y="2057519"/>
            <a:ext cx="622578" cy="622578"/>
          </a:xfrm>
          <a:prstGeom prst="roundRect">
            <a:avLst>
              <a:gd fmla="val 14685848" name="adj"/>
            </a:avLst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5" name="Google Shape;8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7879" y="2228731"/>
            <a:ext cx="280154" cy="280154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/>
          <p:nvPr/>
        </p:nvSpPr>
        <p:spPr>
          <a:xfrm>
            <a:off x="956667" y="2887623"/>
            <a:ext cx="4028956" cy="3877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60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300"/>
              <a:buFont typeface="Marcellus"/>
              <a:buNone/>
            </a:pPr>
            <a:r>
              <a:rPr b="0" i="0" lang="en-US" sz="230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Prevents Coefficient Explosion</a:t>
            </a:r>
            <a:endParaRPr b="0" i="0" sz="2300" u="none" cap="none" strike="noStrike"/>
          </a:p>
        </p:txBody>
      </p:sp>
      <p:sp>
        <p:nvSpPr>
          <p:cNvPr id="87" name="Google Shape;87;p12"/>
          <p:cNvSpPr/>
          <p:nvPr/>
        </p:nvSpPr>
        <p:spPr>
          <a:xfrm>
            <a:off x="956667" y="3399830"/>
            <a:ext cx="6024324" cy="5393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600"/>
              <a:buFont typeface="Montserrat"/>
              <a:buNone/>
            </a:pPr>
            <a:r>
              <a:rPr b="0" i="0" lang="en-US" sz="16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Keeps weights from growing too large and dominating predictions</a:t>
            </a:r>
            <a:endParaRPr b="0" i="0" sz="1600" u="none" cap="none" strike="noStrike"/>
          </a:p>
        </p:txBody>
      </p:sp>
      <p:sp>
        <p:nvSpPr>
          <p:cNvPr id="88" name="Google Shape;88;p12"/>
          <p:cNvSpPr/>
          <p:nvPr/>
        </p:nvSpPr>
        <p:spPr>
          <a:xfrm>
            <a:off x="7418903" y="1827133"/>
            <a:ext cx="6485215" cy="2342436"/>
          </a:xfrm>
          <a:prstGeom prst="roundRect">
            <a:avLst>
              <a:gd fmla="val 3721" name="adj"/>
            </a:avLst>
          </a:prstGeom>
          <a:solidFill>
            <a:srgbClr val="FFFFF4"/>
          </a:solidFill>
          <a:ln cap="flat" cmpd="sng" w="22850">
            <a:solidFill>
              <a:srgbClr val="7D3E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2"/>
          <p:cNvSpPr/>
          <p:nvPr/>
        </p:nvSpPr>
        <p:spPr>
          <a:xfrm>
            <a:off x="7649289" y="2057519"/>
            <a:ext cx="622578" cy="622578"/>
          </a:xfrm>
          <a:prstGeom prst="roundRect">
            <a:avLst>
              <a:gd fmla="val 14685848" name="adj"/>
            </a:avLst>
          </a:prstGeom>
          <a:solidFill>
            <a:srgbClr val="7D3E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0" name="Google Shape;90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20501" y="2228731"/>
            <a:ext cx="280154" cy="280154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2"/>
          <p:cNvSpPr/>
          <p:nvPr/>
        </p:nvSpPr>
        <p:spPr>
          <a:xfrm>
            <a:off x="7649289" y="2887623"/>
            <a:ext cx="2983111" cy="3877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60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300"/>
              <a:buFont typeface="Marcellus"/>
              <a:buNone/>
            </a:pPr>
            <a:r>
              <a:rPr b="0" i="0" lang="en-US" sz="230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Reduces Overfitting</a:t>
            </a:r>
            <a:endParaRPr b="0" i="0" sz="2300" u="none" cap="none" strike="noStrike"/>
          </a:p>
        </p:txBody>
      </p:sp>
      <p:sp>
        <p:nvSpPr>
          <p:cNvPr id="92" name="Google Shape;92;p12"/>
          <p:cNvSpPr/>
          <p:nvPr/>
        </p:nvSpPr>
        <p:spPr>
          <a:xfrm>
            <a:off x="7649289" y="3399830"/>
            <a:ext cx="6024443" cy="2696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600"/>
              <a:buFont typeface="Montserrat"/>
              <a:buNone/>
            </a:pPr>
            <a:r>
              <a:rPr b="0" i="0" lang="en-US" sz="16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Stops the model from memorizing training data patterns</a:t>
            </a:r>
            <a:endParaRPr b="0" i="0" sz="1600" u="none" cap="none" strike="noStrike"/>
          </a:p>
        </p:txBody>
      </p:sp>
      <p:sp>
        <p:nvSpPr>
          <p:cNvPr id="93" name="Google Shape;93;p12"/>
          <p:cNvSpPr/>
          <p:nvPr/>
        </p:nvSpPr>
        <p:spPr>
          <a:xfrm>
            <a:off x="726281" y="4377095"/>
            <a:ext cx="6485096" cy="2072759"/>
          </a:xfrm>
          <a:prstGeom prst="roundRect">
            <a:avLst>
              <a:gd fmla="val 4205" name="adj"/>
            </a:avLst>
          </a:prstGeom>
          <a:solidFill>
            <a:srgbClr val="FFFFF4"/>
          </a:solidFill>
          <a:ln cap="flat" cmpd="sng" w="22850">
            <a:solidFill>
              <a:srgbClr val="5324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2"/>
          <p:cNvSpPr/>
          <p:nvPr/>
        </p:nvSpPr>
        <p:spPr>
          <a:xfrm>
            <a:off x="956667" y="4607481"/>
            <a:ext cx="622578" cy="622578"/>
          </a:xfrm>
          <a:prstGeom prst="roundRect">
            <a:avLst>
              <a:gd fmla="val 14685848" name="adj"/>
            </a:avLst>
          </a:prstGeom>
          <a:solidFill>
            <a:srgbClr val="5324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5" name="Google Shape;95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27879" y="4778692"/>
            <a:ext cx="280154" cy="280154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2"/>
          <p:cNvSpPr/>
          <p:nvPr/>
        </p:nvSpPr>
        <p:spPr>
          <a:xfrm>
            <a:off x="956667" y="5437584"/>
            <a:ext cx="2983111" cy="3877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60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300"/>
              <a:buFont typeface="Marcellus"/>
              <a:buNone/>
            </a:pPr>
            <a:r>
              <a:rPr b="0" i="0" lang="en-US" sz="230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Smoother Boundaries</a:t>
            </a:r>
            <a:endParaRPr b="0" i="0" sz="2300" u="none" cap="none" strike="noStrike"/>
          </a:p>
        </p:txBody>
      </p:sp>
      <p:sp>
        <p:nvSpPr>
          <p:cNvPr id="97" name="Google Shape;97;p12"/>
          <p:cNvSpPr/>
          <p:nvPr/>
        </p:nvSpPr>
        <p:spPr>
          <a:xfrm>
            <a:off x="956667" y="5949791"/>
            <a:ext cx="6024324" cy="2696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600"/>
              <a:buFont typeface="Montserrat"/>
              <a:buNone/>
            </a:pPr>
            <a:r>
              <a:rPr b="0" i="0" lang="en-US" sz="16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Creates cleaner, more generalizable decision boundaries</a:t>
            </a:r>
            <a:endParaRPr b="0" i="0" sz="1600" u="none" cap="none" strike="noStrike"/>
          </a:p>
        </p:txBody>
      </p:sp>
      <p:sp>
        <p:nvSpPr>
          <p:cNvPr id="98" name="Google Shape;98;p12"/>
          <p:cNvSpPr/>
          <p:nvPr/>
        </p:nvSpPr>
        <p:spPr>
          <a:xfrm>
            <a:off x="7418903" y="4377095"/>
            <a:ext cx="6485215" cy="2072759"/>
          </a:xfrm>
          <a:prstGeom prst="roundRect">
            <a:avLst>
              <a:gd fmla="val 4205" name="adj"/>
            </a:avLst>
          </a:prstGeom>
          <a:solidFill>
            <a:srgbClr val="FFFFF4"/>
          </a:solidFill>
          <a:ln cap="flat" cmpd="sng" w="22850">
            <a:solidFill>
              <a:srgbClr val="CC52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2"/>
          <p:cNvSpPr/>
          <p:nvPr/>
        </p:nvSpPr>
        <p:spPr>
          <a:xfrm>
            <a:off x="7649289" y="4607481"/>
            <a:ext cx="622578" cy="622578"/>
          </a:xfrm>
          <a:prstGeom prst="roundRect">
            <a:avLst>
              <a:gd fmla="val 14685848" name="adj"/>
            </a:avLst>
          </a:prstGeom>
          <a:solidFill>
            <a:srgbClr val="CC52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0" name="Google Shape;100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20501" y="4778692"/>
            <a:ext cx="280154" cy="280154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2"/>
          <p:cNvSpPr/>
          <p:nvPr/>
        </p:nvSpPr>
        <p:spPr>
          <a:xfrm>
            <a:off x="7649289" y="5437584"/>
            <a:ext cx="3002399" cy="3877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60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300"/>
              <a:buFont typeface="Marcellus"/>
              <a:buNone/>
            </a:pPr>
            <a:r>
              <a:rPr b="0" i="0" lang="en-US" sz="230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Stabilizes Performance</a:t>
            </a:r>
            <a:endParaRPr b="0" i="0" sz="2300" u="none" cap="none" strike="noStrike"/>
          </a:p>
        </p:txBody>
      </p:sp>
      <p:sp>
        <p:nvSpPr>
          <p:cNvPr id="102" name="Google Shape;102;p12"/>
          <p:cNvSpPr/>
          <p:nvPr/>
        </p:nvSpPr>
        <p:spPr>
          <a:xfrm>
            <a:off x="7649289" y="5949791"/>
            <a:ext cx="6024443" cy="2696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600"/>
              <a:buFont typeface="Montserrat"/>
              <a:buNone/>
            </a:pPr>
            <a:r>
              <a:rPr b="0" i="0" lang="en-US" sz="16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Ensures consistent behavior on unseen data</a:t>
            </a:r>
            <a:endParaRPr b="0" i="0" sz="1600" u="none" cap="none" strike="noStrike"/>
          </a:p>
        </p:txBody>
      </p:sp>
      <p:sp>
        <p:nvSpPr>
          <p:cNvPr id="103" name="Google Shape;103;p12"/>
          <p:cNvSpPr/>
          <p:nvPr/>
        </p:nvSpPr>
        <p:spPr>
          <a:xfrm>
            <a:off x="726281" y="6786890"/>
            <a:ext cx="13177837" cy="33457"/>
          </a:xfrm>
          <a:prstGeom prst="rect">
            <a:avLst/>
          </a:prstGeom>
          <a:solidFill>
            <a:srgbClr val="67534F">
              <a:alpha val="49804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2"/>
          <p:cNvSpPr/>
          <p:nvPr/>
        </p:nvSpPr>
        <p:spPr>
          <a:xfrm>
            <a:off x="726281" y="7053620"/>
            <a:ext cx="13177837" cy="5393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600"/>
              <a:buFont typeface="Montserrat"/>
              <a:buNone/>
            </a:pPr>
            <a:r>
              <a:rPr b="1" i="0" lang="en-US" sz="16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Key Takeaway:</a:t>
            </a:r>
            <a:r>
              <a:rPr b="0" i="0" lang="en-US" sz="16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 L2 regularization improves model health by keeping weights in check. Smaller C values shrink weights more aggressively. It's a simple but highly effective technique for building robust logistic regression models.</a:t>
            </a:r>
            <a:endParaRPr b="0" i="0" sz="1600" u="none" cap="none" strike="noStrik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