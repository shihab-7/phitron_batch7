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8229600" cx="14630400"/>
  <p:notesSz cx="8229600" cy="14630400"/>
  <p:embeddedFontLst>
    <p:embeddedFont>
      <p:font typeface="Marcellus"/>
      <p:regular r:id="rId9"/>
    </p:embeddedFont>
    <p:embeddedFont>
      <p:font typeface="Montserrat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bold.fntdata"/><Relationship Id="rId10" Type="http://schemas.openxmlformats.org/officeDocument/2006/relationships/font" Target="fonts/Montserrat-regular.fntdata"/><Relationship Id="rId13" Type="http://schemas.openxmlformats.org/officeDocument/2006/relationships/font" Target="fonts/Montserrat-boldItalic.fntdata"/><Relationship Id="rId12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Marcellu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" name="Google Shape;2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7"/>
          <p:cNvSpPr/>
          <p:nvPr/>
        </p:nvSpPr>
        <p:spPr>
          <a:xfrm>
            <a:off x="6280190" y="3009781"/>
            <a:ext cx="7556421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Module 14: Logistic Regression</a:t>
            </a:r>
            <a:endParaRPr b="0" i="0" sz="5100" u="none" cap="none" strike="noStrike"/>
          </a:p>
        </p:txBody>
      </p:sp>
      <p:sp>
        <p:nvSpPr>
          <p:cNvPr id="30" name="Google Shape;30;p7"/>
          <p:cNvSpPr/>
          <p:nvPr/>
        </p:nvSpPr>
        <p:spPr>
          <a:xfrm>
            <a:off x="6280190" y="4795957"/>
            <a:ext cx="510468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Turning probabilities into decisions</a:t>
            </a:r>
            <a:endParaRPr b="0" i="0" sz="25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793790" y="2126575"/>
            <a:ext cx="7765137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Why This Module Matters</a:t>
            </a:r>
            <a:endParaRPr b="0" i="0" sz="5100" u="none" cap="none" strike="noStrike"/>
          </a:p>
        </p:txBody>
      </p:sp>
      <p:sp>
        <p:nvSpPr>
          <p:cNvPr id="37" name="Google Shape;37;p8"/>
          <p:cNvSpPr/>
          <p:nvPr/>
        </p:nvSpPr>
        <p:spPr>
          <a:xfrm>
            <a:off x="793790" y="3314462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Real-world problems often demand clear yes-or-no answers. Is this email spam? Is this transaction fraudulent? Does this patient have the disease? Logistic regression transforms uncertainty into confident binary decisions.</a:t>
            </a:r>
            <a:endParaRPr b="0" i="0" sz="1750" u="none" cap="none" strike="noStrike"/>
          </a:p>
        </p:txBody>
      </p:sp>
      <p:sp>
        <p:nvSpPr>
          <p:cNvPr id="38" name="Google Shape;38;p8"/>
          <p:cNvSpPr/>
          <p:nvPr/>
        </p:nvSpPr>
        <p:spPr>
          <a:xfrm>
            <a:off x="793790" y="4159210"/>
            <a:ext cx="4196358" cy="1943695"/>
          </a:xfrm>
          <a:prstGeom prst="roundRect">
            <a:avLst>
              <a:gd fmla="val 4901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/>
          <p:nvPr/>
        </p:nvSpPr>
        <p:spPr>
          <a:xfrm>
            <a:off x="1043464" y="4408884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Email Security</a:t>
            </a:r>
            <a:endParaRPr b="0" i="0" sz="2550" u="none" cap="none" strike="noStrike"/>
          </a:p>
        </p:txBody>
      </p:sp>
      <p:sp>
        <p:nvSpPr>
          <p:cNvPr id="40" name="Google Shape;40;p8"/>
          <p:cNvSpPr/>
          <p:nvPr/>
        </p:nvSpPr>
        <p:spPr>
          <a:xfrm>
            <a:off x="1043464" y="4968835"/>
            <a:ext cx="3697010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Spam or legitimate? Protect inboxes by classifying messages automatically.</a:t>
            </a:r>
            <a:endParaRPr b="0" i="0" sz="1750" u="none" cap="none" strike="noStrike"/>
          </a:p>
        </p:txBody>
      </p:sp>
      <p:sp>
        <p:nvSpPr>
          <p:cNvPr id="41" name="Google Shape;41;p8"/>
          <p:cNvSpPr/>
          <p:nvPr/>
        </p:nvSpPr>
        <p:spPr>
          <a:xfrm>
            <a:off x="5216962" y="4159210"/>
            <a:ext cx="4196358" cy="1943695"/>
          </a:xfrm>
          <a:prstGeom prst="roundRect">
            <a:avLst>
              <a:gd fmla="val 4901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8"/>
          <p:cNvSpPr/>
          <p:nvPr/>
        </p:nvSpPr>
        <p:spPr>
          <a:xfrm>
            <a:off x="5466636" y="4408884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Fraud Detection</a:t>
            </a:r>
            <a:endParaRPr b="0" i="0" sz="2550" u="none" cap="none" strike="noStrike"/>
          </a:p>
        </p:txBody>
      </p:sp>
      <p:sp>
        <p:nvSpPr>
          <p:cNvPr id="43" name="Google Shape;43;p8"/>
          <p:cNvSpPr/>
          <p:nvPr/>
        </p:nvSpPr>
        <p:spPr>
          <a:xfrm>
            <a:off x="5466636" y="4968835"/>
            <a:ext cx="3697010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Fraudulent or safe? Catch suspicious transactions before they cause damage.</a:t>
            </a:r>
            <a:endParaRPr b="0" i="0" sz="1750" u="none" cap="none" strike="noStrike"/>
          </a:p>
        </p:txBody>
      </p:sp>
      <p:sp>
        <p:nvSpPr>
          <p:cNvPr id="44" name="Google Shape;44;p8"/>
          <p:cNvSpPr/>
          <p:nvPr/>
        </p:nvSpPr>
        <p:spPr>
          <a:xfrm>
            <a:off x="9640133" y="4159210"/>
            <a:ext cx="4196358" cy="1943695"/>
          </a:xfrm>
          <a:prstGeom prst="roundRect">
            <a:avLst>
              <a:gd fmla="val 4901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8"/>
          <p:cNvSpPr/>
          <p:nvPr/>
        </p:nvSpPr>
        <p:spPr>
          <a:xfrm>
            <a:off x="9889808" y="4408884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Medical Diagnosis</a:t>
            </a:r>
            <a:endParaRPr b="0" i="0" sz="2550" u="none" cap="none" strike="noStrike"/>
          </a:p>
        </p:txBody>
      </p:sp>
      <p:sp>
        <p:nvSpPr>
          <p:cNvPr id="46" name="Google Shape;46;p8"/>
          <p:cNvSpPr/>
          <p:nvPr/>
        </p:nvSpPr>
        <p:spPr>
          <a:xfrm>
            <a:off x="9889808" y="4968835"/>
            <a:ext cx="3697010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Disease present or absent? Support doctors with data-driven predictions.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/>
          <p:nvPr/>
        </p:nvSpPr>
        <p:spPr>
          <a:xfrm>
            <a:off x="793790" y="1968103"/>
            <a:ext cx="8915876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Makes Logistic Different</a:t>
            </a:r>
            <a:endParaRPr b="0" i="0" sz="5100" u="none" cap="none" strike="noStrike"/>
          </a:p>
        </p:txBody>
      </p:sp>
      <p:sp>
        <p:nvSpPr>
          <p:cNvPr id="53" name="Google Shape;53;p9"/>
          <p:cNvSpPr/>
          <p:nvPr/>
        </p:nvSpPr>
        <p:spPr>
          <a:xfrm>
            <a:off x="793790" y="3382804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Linear Regression</a:t>
            </a:r>
            <a:endParaRPr b="0" i="0" sz="2550" u="none" cap="none" strike="noStrike"/>
          </a:p>
        </p:txBody>
      </p:sp>
      <p:sp>
        <p:nvSpPr>
          <p:cNvPr id="54" name="Google Shape;54;p9"/>
          <p:cNvSpPr/>
          <p:nvPr/>
        </p:nvSpPr>
        <p:spPr>
          <a:xfrm>
            <a:off x="793790" y="4033480"/>
            <a:ext cx="6244709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Predicts any number on a continuous scale—house prices, temperatures, stock values. The output can be any value from negative infinity to positive infinity.</a:t>
            </a:r>
            <a:endParaRPr b="0" i="0" sz="1750" u="none" cap="none" strike="noStrike"/>
          </a:p>
        </p:txBody>
      </p:sp>
      <p:sp>
        <p:nvSpPr>
          <p:cNvPr id="55" name="Google Shape;55;p9"/>
          <p:cNvSpPr/>
          <p:nvPr/>
        </p:nvSpPr>
        <p:spPr>
          <a:xfrm>
            <a:off x="7599521" y="3382804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Logistic Regression</a:t>
            </a:r>
            <a:endParaRPr b="0" i="0" sz="2550" u="none" cap="none" strike="noStrike"/>
          </a:p>
        </p:txBody>
      </p:sp>
      <p:sp>
        <p:nvSpPr>
          <p:cNvPr id="56" name="Google Shape;56;p9"/>
          <p:cNvSpPr/>
          <p:nvPr/>
        </p:nvSpPr>
        <p:spPr>
          <a:xfrm>
            <a:off x="7599521" y="4033480"/>
            <a:ext cx="6244709" cy="117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Predicts probability between 0 and 1, then converts it into a clear class label. Same linear thinking inside, but squeezed into a probability that leads to a binary decision.</a:t>
            </a:r>
            <a:endParaRPr b="0" i="0" sz="1750" u="none" cap="none" strike="noStrike"/>
          </a:p>
        </p:txBody>
      </p:sp>
      <p:sp>
        <p:nvSpPr>
          <p:cNvPr id="57" name="Google Shape;57;p9"/>
          <p:cNvSpPr/>
          <p:nvPr/>
        </p:nvSpPr>
        <p:spPr>
          <a:xfrm>
            <a:off x="793790" y="5671899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Think of it this way: linear regression draws a straight line through your data. Logistic regression takes that line and transforms it into an S-curve that always stays between 0 and 1—perfect for probabilities.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/>
          <p:nvPr/>
        </p:nvSpPr>
        <p:spPr>
          <a:xfrm>
            <a:off x="716637" y="563047"/>
            <a:ext cx="5886688" cy="765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4600"/>
              <a:buFont typeface="Marcellus"/>
              <a:buNone/>
            </a:pPr>
            <a:r>
              <a:rPr b="0" i="0" lang="en-US" sz="46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We'll Cover</a:t>
            </a:r>
            <a:endParaRPr b="0" i="0" sz="4600" u="none" cap="none" strike="noStrike"/>
          </a:p>
        </p:txBody>
      </p:sp>
      <p:sp>
        <p:nvSpPr>
          <p:cNvPr id="64" name="Google Shape;64;p10"/>
          <p:cNvSpPr/>
          <p:nvPr/>
        </p:nvSpPr>
        <p:spPr>
          <a:xfrm>
            <a:off x="716637" y="1737717"/>
            <a:ext cx="13197126" cy="532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This module breaks down logistic regression into digestible pieces. By the end, you'll understand how to make smart binary predictions and evaluate how well your model performs.</a:t>
            </a:r>
            <a:endParaRPr b="0" i="0" sz="1600" u="none" cap="none" strike="noStrike"/>
          </a:p>
        </p:txBody>
      </p:sp>
      <p:sp>
        <p:nvSpPr>
          <p:cNvPr id="65" name="Google Shape;65;p10"/>
          <p:cNvSpPr/>
          <p:nvPr/>
        </p:nvSpPr>
        <p:spPr>
          <a:xfrm>
            <a:off x="716614" y="2500425"/>
            <a:ext cx="3873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arcellus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01</a:t>
            </a:r>
            <a:endParaRPr b="0" i="0" sz="1600" u="none" cap="none" strike="noStrike"/>
          </a:p>
        </p:txBody>
      </p:sp>
      <p:sp>
        <p:nvSpPr>
          <p:cNvPr id="66" name="Google Shape;66;p10"/>
          <p:cNvSpPr/>
          <p:nvPr/>
        </p:nvSpPr>
        <p:spPr>
          <a:xfrm>
            <a:off x="716637" y="2835593"/>
            <a:ext cx="4262557" cy="2286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0"/>
          <p:cNvSpPr/>
          <p:nvPr/>
        </p:nvSpPr>
        <p:spPr>
          <a:xfrm>
            <a:off x="716637" y="2983587"/>
            <a:ext cx="3694867" cy="382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300"/>
              <a:buFont typeface="Marcellus"/>
              <a:buNone/>
            </a:pPr>
            <a:r>
              <a:rPr b="0" i="0" lang="en-US" sz="23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Logistic Regression Intuition</a:t>
            </a:r>
            <a:endParaRPr b="0" i="0" sz="2300" u="none" cap="none" strike="noStrike"/>
          </a:p>
        </p:txBody>
      </p:sp>
      <p:sp>
        <p:nvSpPr>
          <p:cNvPr id="68" name="Google Shape;68;p10"/>
          <p:cNvSpPr/>
          <p:nvPr/>
        </p:nvSpPr>
        <p:spPr>
          <a:xfrm>
            <a:off x="716637" y="3488888"/>
            <a:ext cx="4262557" cy="532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Build a mental model of how classification works</a:t>
            </a:r>
            <a:endParaRPr b="0" i="0" sz="1600" u="none" cap="none" strike="noStrike"/>
          </a:p>
        </p:txBody>
      </p:sp>
      <p:sp>
        <p:nvSpPr>
          <p:cNvPr id="69" name="Google Shape;69;p10"/>
          <p:cNvSpPr/>
          <p:nvPr/>
        </p:nvSpPr>
        <p:spPr>
          <a:xfrm>
            <a:off x="5183835" y="2500425"/>
            <a:ext cx="3873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arcellus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02</a:t>
            </a:r>
            <a:endParaRPr b="0" i="0" sz="1600" u="none" cap="none" strike="noStrike"/>
          </a:p>
        </p:txBody>
      </p:sp>
      <p:sp>
        <p:nvSpPr>
          <p:cNvPr id="70" name="Google Shape;70;p10"/>
          <p:cNvSpPr/>
          <p:nvPr/>
        </p:nvSpPr>
        <p:spPr>
          <a:xfrm>
            <a:off x="5183862" y="2835593"/>
            <a:ext cx="4262557" cy="2286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0"/>
          <p:cNvSpPr/>
          <p:nvPr/>
        </p:nvSpPr>
        <p:spPr>
          <a:xfrm>
            <a:off x="5183862" y="2983587"/>
            <a:ext cx="2943344" cy="382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300"/>
              <a:buFont typeface="Marcellus"/>
              <a:buNone/>
            </a:pPr>
            <a:r>
              <a:rPr b="0" i="0" lang="en-US" sz="23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The Sigmoid Function</a:t>
            </a:r>
            <a:endParaRPr b="0" i="0" sz="2300" u="none" cap="none" strike="noStrike"/>
          </a:p>
        </p:txBody>
      </p:sp>
      <p:sp>
        <p:nvSpPr>
          <p:cNvPr id="72" name="Google Shape;72;p10"/>
          <p:cNvSpPr/>
          <p:nvPr/>
        </p:nvSpPr>
        <p:spPr>
          <a:xfrm>
            <a:off x="5183862" y="3488888"/>
            <a:ext cx="4262557" cy="532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Transform linear outputs into probabilities</a:t>
            </a:r>
            <a:endParaRPr b="0" i="0" sz="1600" u="none" cap="none" strike="noStrike"/>
          </a:p>
        </p:txBody>
      </p:sp>
      <p:sp>
        <p:nvSpPr>
          <p:cNvPr id="73" name="Google Shape;73;p10"/>
          <p:cNvSpPr/>
          <p:nvPr/>
        </p:nvSpPr>
        <p:spPr>
          <a:xfrm>
            <a:off x="9651055" y="2500425"/>
            <a:ext cx="5466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arcellus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03</a:t>
            </a:r>
            <a:endParaRPr b="0" i="0" sz="1600" u="none" cap="none" strike="noStrike"/>
          </a:p>
        </p:txBody>
      </p:sp>
      <p:sp>
        <p:nvSpPr>
          <p:cNvPr id="74" name="Google Shape;74;p10"/>
          <p:cNvSpPr/>
          <p:nvPr/>
        </p:nvSpPr>
        <p:spPr>
          <a:xfrm>
            <a:off x="9651087" y="2835593"/>
            <a:ext cx="4262557" cy="2286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0"/>
          <p:cNvSpPr/>
          <p:nvPr/>
        </p:nvSpPr>
        <p:spPr>
          <a:xfrm>
            <a:off x="9651087" y="2983587"/>
            <a:ext cx="4139327" cy="382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300"/>
              <a:buFont typeface="Marcellus"/>
              <a:buNone/>
            </a:pPr>
            <a:r>
              <a:rPr b="0" i="0" lang="en-US" sz="23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Log Odds &amp; Decision Boundary</a:t>
            </a:r>
            <a:endParaRPr b="0" i="0" sz="2300" u="none" cap="none" strike="noStrike"/>
          </a:p>
        </p:txBody>
      </p:sp>
      <p:sp>
        <p:nvSpPr>
          <p:cNvPr id="76" name="Google Shape;76;p10"/>
          <p:cNvSpPr/>
          <p:nvPr/>
        </p:nvSpPr>
        <p:spPr>
          <a:xfrm>
            <a:off x="9651087" y="3488888"/>
            <a:ext cx="4262557" cy="266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Draw the line between classes</a:t>
            </a:r>
            <a:endParaRPr b="0" i="0" sz="1600" u="none" cap="none" strike="noStrike"/>
          </a:p>
        </p:txBody>
      </p:sp>
      <p:sp>
        <p:nvSpPr>
          <p:cNvPr id="77" name="Google Shape;77;p10"/>
          <p:cNvSpPr/>
          <p:nvPr/>
        </p:nvSpPr>
        <p:spPr>
          <a:xfrm>
            <a:off x="716605" y="4379475"/>
            <a:ext cx="5466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arcellus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04</a:t>
            </a:r>
            <a:endParaRPr b="0" i="0" sz="1600" u="none" cap="none" strike="noStrike"/>
          </a:p>
        </p:txBody>
      </p:sp>
      <p:sp>
        <p:nvSpPr>
          <p:cNvPr id="78" name="Google Shape;78;p10"/>
          <p:cNvSpPr/>
          <p:nvPr/>
        </p:nvSpPr>
        <p:spPr>
          <a:xfrm>
            <a:off x="716637" y="4714637"/>
            <a:ext cx="4262557" cy="2286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0"/>
          <p:cNvSpPr/>
          <p:nvPr/>
        </p:nvSpPr>
        <p:spPr>
          <a:xfrm>
            <a:off x="716637" y="4862632"/>
            <a:ext cx="3040737" cy="382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300"/>
              <a:buFont typeface="Marcellus"/>
              <a:buNone/>
            </a:pPr>
            <a:r>
              <a:rPr b="0" i="0" lang="en-US" sz="23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Cost Function Intuition</a:t>
            </a:r>
            <a:endParaRPr b="0" i="0" sz="2300" u="none" cap="none" strike="noStrike"/>
          </a:p>
        </p:txBody>
      </p:sp>
      <p:sp>
        <p:nvSpPr>
          <p:cNvPr id="80" name="Google Shape;80;p10"/>
          <p:cNvSpPr/>
          <p:nvPr/>
        </p:nvSpPr>
        <p:spPr>
          <a:xfrm>
            <a:off x="716637" y="5367933"/>
            <a:ext cx="4262557" cy="266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Measure and minimize prediction errors</a:t>
            </a:r>
            <a:endParaRPr b="0" i="0" sz="1600" u="none" cap="none" strike="noStrike"/>
          </a:p>
        </p:txBody>
      </p:sp>
      <p:sp>
        <p:nvSpPr>
          <p:cNvPr id="81" name="Google Shape;81;p10"/>
          <p:cNvSpPr/>
          <p:nvPr/>
        </p:nvSpPr>
        <p:spPr>
          <a:xfrm>
            <a:off x="5183833" y="4379475"/>
            <a:ext cx="5466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arcellus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05</a:t>
            </a:r>
            <a:endParaRPr b="0" i="0" sz="1600" u="none" cap="none" strike="noStrike"/>
          </a:p>
        </p:txBody>
      </p:sp>
      <p:sp>
        <p:nvSpPr>
          <p:cNvPr id="82" name="Google Shape;82;p10"/>
          <p:cNvSpPr/>
          <p:nvPr/>
        </p:nvSpPr>
        <p:spPr>
          <a:xfrm>
            <a:off x="5183862" y="4714637"/>
            <a:ext cx="4262557" cy="2286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0"/>
          <p:cNvSpPr/>
          <p:nvPr/>
        </p:nvSpPr>
        <p:spPr>
          <a:xfrm>
            <a:off x="5183862" y="4862632"/>
            <a:ext cx="3856196" cy="382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300"/>
              <a:buFont typeface="Marcellus"/>
              <a:buNone/>
            </a:pPr>
            <a:r>
              <a:rPr b="0" i="0" lang="en-US" sz="23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Real Dataset Implementation</a:t>
            </a:r>
            <a:endParaRPr b="0" i="0" sz="2300" u="none" cap="none" strike="noStrike"/>
          </a:p>
        </p:txBody>
      </p:sp>
      <p:sp>
        <p:nvSpPr>
          <p:cNvPr id="84" name="Google Shape;84;p10"/>
          <p:cNvSpPr/>
          <p:nvPr/>
        </p:nvSpPr>
        <p:spPr>
          <a:xfrm>
            <a:off x="5183862" y="5367933"/>
            <a:ext cx="4262557" cy="266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Apply theory to actual data</a:t>
            </a:r>
            <a:endParaRPr b="0" i="0" sz="1600" u="none" cap="none" strike="noStrike"/>
          </a:p>
        </p:txBody>
      </p:sp>
      <p:sp>
        <p:nvSpPr>
          <p:cNvPr id="85" name="Google Shape;85;p10"/>
          <p:cNvSpPr/>
          <p:nvPr/>
        </p:nvSpPr>
        <p:spPr>
          <a:xfrm>
            <a:off x="9651064" y="4379475"/>
            <a:ext cx="3873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arcellus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06</a:t>
            </a:r>
            <a:endParaRPr b="0" i="0" sz="1600" u="none" cap="none" strike="noStrike"/>
          </a:p>
        </p:txBody>
      </p:sp>
      <p:sp>
        <p:nvSpPr>
          <p:cNvPr id="86" name="Google Shape;86;p10"/>
          <p:cNvSpPr/>
          <p:nvPr/>
        </p:nvSpPr>
        <p:spPr>
          <a:xfrm>
            <a:off x="9651087" y="4714637"/>
            <a:ext cx="4262557" cy="2286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0"/>
          <p:cNvSpPr/>
          <p:nvPr/>
        </p:nvSpPr>
        <p:spPr>
          <a:xfrm>
            <a:off x="9651087" y="4862632"/>
            <a:ext cx="2943344" cy="382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300"/>
              <a:buFont typeface="Marcellus"/>
              <a:buNone/>
            </a:pPr>
            <a:r>
              <a:rPr b="0" i="0" lang="en-US" sz="23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Evaluation Metrics</a:t>
            </a:r>
            <a:endParaRPr b="0" i="0" sz="2300" u="none" cap="none" strike="noStrike"/>
          </a:p>
        </p:txBody>
      </p:sp>
      <p:sp>
        <p:nvSpPr>
          <p:cNvPr id="88" name="Google Shape;88;p10"/>
          <p:cNvSpPr/>
          <p:nvPr/>
        </p:nvSpPr>
        <p:spPr>
          <a:xfrm>
            <a:off x="9651087" y="5367933"/>
            <a:ext cx="4262557" cy="532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Assess model performance beyond accuracy</a:t>
            </a:r>
            <a:endParaRPr b="0" i="0" sz="1600" u="none" cap="none" strike="noStrike"/>
          </a:p>
        </p:txBody>
      </p:sp>
      <p:sp>
        <p:nvSpPr>
          <p:cNvPr id="89" name="Google Shape;89;p10"/>
          <p:cNvSpPr/>
          <p:nvPr/>
        </p:nvSpPr>
        <p:spPr>
          <a:xfrm>
            <a:off x="716609" y="6258525"/>
            <a:ext cx="5466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arcellus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07</a:t>
            </a:r>
            <a:endParaRPr b="0" i="0" sz="1600" u="none" cap="none" strike="noStrike"/>
          </a:p>
        </p:txBody>
      </p:sp>
      <p:sp>
        <p:nvSpPr>
          <p:cNvPr id="90" name="Google Shape;90;p10"/>
          <p:cNvSpPr/>
          <p:nvPr/>
        </p:nvSpPr>
        <p:spPr>
          <a:xfrm>
            <a:off x="716637" y="6593681"/>
            <a:ext cx="13197007" cy="2286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0"/>
          <p:cNvSpPr/>
          <p:nvPr/>
        </p:nvSpPr>
        <p:spPr>
          <a:xfrm>
            <a:off x="716637" y="6741676"/>
            <a:ext cx="2943344" cy="382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300"/>
              <a:buFont typeface="Marcellus"/>
              <a:buNone/>
            </a:pPr>
            <a:r>
              <a:rPr b="0" i="0" lang="en-US" sz="23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L2 Regularization</a:t>
            </a:r>
            <a:endParaRPr b="0" i="0" sz="2300" u="none" cap="none" strike="noStrike"/>
          </a:p>
        </p:txBody>
      </p:sp>
      <p:sp>
        <p:nvSpPr>
          <p:cNvPr id="92" name="Google Shape;92;p10"/>
          <p:cNvSpPr/>
          <p:nvPr/>
        </p:nvSpPr>
        <p:spPr>
          <a:xfrm>
            <a:off x="716637" y="7246977"/>
            <a:ext cx="13197007" cy="266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Prevent overfitting and improve generalization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